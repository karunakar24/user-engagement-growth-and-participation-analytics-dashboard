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8" r:id="rId12"/>
    <p:sldId id="269" r:id="rId13"/>
    <p:sldId id="270" r:id="rId14"/>
    <p:sldId id="266" r:id="rId15"/>
    <p:sldId id="267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lumMod val="75000"/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2445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016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973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904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36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2686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195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10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90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349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7136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0958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3389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422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60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06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cxnSp>
          <p:nvCxnSpPr>
            <p:cNvPr id="7" name="Straight Connector 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Freeform 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50000"/>
                <a:alpha val="7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32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  <p:sldLayoutId id="2147483859" r:id="rId12"/>
    <p:sldLayoutId id="2147483860" r:id="rId13"/>
    <p:sldLayoutId id="2147483861" r:id="rId14"/>
    <p:sldLayoutId id="2147483862" r:id="rId15"/>
    <p:sldLayoutId id="214748386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75000"/>
          </a:schemeClr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Excelerate Dashboard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b="1" dirty="0">
                <a:solidFill>
                  <a:schemeClr val="tx1"/>
                </a:solidFill>
              </a:rPr>
              <a:t>Data Analysis and Insights</a:t>
            </a:r>
          </a:p>
          <a:p>
            <a:r>
              <a:rPr b="1" dirty="0">
                <a:solidFill>
                  <a:schemeClr val="tx1"/>
                </a:solidFill>
              </a:rPr>
              <a:t>By </a:t>
            </a:r>
            <a:r>
              <a:rPr lang="en-US" b="1" dirty="0">
                <a:solidFill>
                  <a:schemeClr val="tx1"/>
                </a:solidFill>
              </a:rPr>
              <a:t>DVA 0302 Team 5A</a:t>
            </a:r>
            <a:endParaRPr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b="1" dirty="0"/>
              <a:t>Purpose:</a:t>
            </a:r>
            <a:r>
              <a:rPr dirty="0"/>
              <a:t> To provide insights into user engagement and opportunity sign-ups on Excelerate.</a:t>
            </a:r>
          </a:p>
          <a:p>
            <a:r>
              <a:rPr b="1" dirty="0"/>
              <a:t>Significance:</a:t>
            </a:r>
            <a:r>
              <a:rPr dirty="0"/>
              <a:t> Helps Excelerate make data-driven decisions for improving user experience.</a:t>
            </a:r>
          </a:p>
          <a:p>
            <a:r>
              <a:rPr lang="en-US" b="1" dirty="0"/>
              <a:t>Team Members:</a:t>
            </a:r>
            <a:r>
              <a:rPr lang="en-US" dirty="0"/>
              <a:t> Karunakar Nuvvula, Kiran Hayat, Aniket Mahadik, Atharv Margale.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The dashboard provides insights into user engagement, demographics, opportunities, and scholarships.</a:t>
            </a:r>
          </a:p>
          <a:p>
            <a:r>
              <a:rPr b="1" dirty="0"/>
              <a:t>Key sections: </a:t>
            </a:r>
            <a:r>
              <a:rPr dirty="0"/>
              <a:t>Overview &amp; User Engagement, Geographic Distribution, Opportunity &amp; Skill Analysis, Scholarship Impact.</a:t>
            </a:r>
          </a:p>
          <a:p>
            <a:r>
              <a:rPr dirty="0"/>
              <a:t>Designed for easy navigation and data-driven decision-making.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Decisions </a:t>
            </a:r>
            <a:r>
              <a:rPr lang="en-US" dirty="0"/>
              <a:t>and</a:t>
            </a:r>
            <a:r>
              <a:rPr dirty="0"/>
              <a:t> Design Choices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Chose Google Data Studio for its interactivity and real-time data integration.</a:t>
            </a:r>
          </a:p>
          <a:p>
            <a:r>
              <a:rPr b="1" dirty="0"/>
              <a:t>Visualizations:</a:t>
            </a:r>
            <a:r>
              <a:rPr dirty="0"/>
              <a:t> Bar charts, line graphs, and filters for better data exploration.</a:t>
            </a:r>
          </a:p>
          <a:p>
            <a:r>
              <a:rPr dirty="0"/>
              <a:t>Used filters to allow user-driven insights (e.g., country-wise breakdowns).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Data integration issues while handling large datasets.</a:t>
            </a:r>
          </a:p>
          <a:p>
            <a:r>
              <a:rPr dirty="0"/>
              <a:t>Ensuring accuracy and consistency across different data sources.</a:t>
            </a:r>
          </a:p>
          <a:p>
            <a:r>
              <a:rPr dirty="0"/>
              <a:t>Optimizing dashboard performance for smooth user interaction.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Cleaned and preprocessed data to ensure consistency.</a:t>
            </a:r>
          </a:p>
          <a:p>
            <a:r>
              <a:rPr dirty="0"/>
              <a:t>Used efficient queries and optimized dashboard components for better performance.</a:t>
            </a:r>
          </a:p>
          <a:p>
            <a:r>
              <a:rPr dirty="0"/>
              <a:t>Implemented interactive filters to enhance user experience.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Derived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27,562 total users; 11,481 have signed up for opportunities.</a:t>
            </a:r>
          </a:p>
          <a:p>
            <a:r>
              <a:rPr dirty="0"/>
              <a:t>India, Nigeria, and the U.S. have the highest sign-ups.</a:t>
            </a:r>
          </a:p>
          <a:p>
            <a:r>
              <a:rPr dirty="0"/>
              <a:t>Most popular opportunities: Data Visualization, Project Management, and Digital Marketing.</a:t>
            </a:r>
          </a:p>
          <a:p>
            <a:r>
              <a:rPr dirty="0"/>
              <a:t>Scholarships awarded across multiple opportunities, benefiting learners.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Addressing Key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b="1" dirty="0"/>
              <a:t>How many users are signed up? </a:t>
            </a:r>
            <a:r>
              <a:rPr dirty="0"/>
              <a:t>- 27,562 total, 11,481 for opportunities.</a:t>
            </a:r>
          </a:p>
          <a:p>
            <a:r>
              <a:rPr b="1" dirty="0"/>
              <a:t>Top 10 countries? </a:t>
            </a:r>
            <a:r>
              <a:rPr dirty="0"/>
              <a:t>- India, Nigeria, U.S., Pakistan, Ghana, etc.</a:t>
            </a:r>
          </a:p>
          <a:p>
            <a:r>
              <a:rPr b="1" dirty="0"/>
              <a:t>Most popular opportunities? </a:t>
            </a:r>
            <a:r>
              <a:rPr dirty="0"/>
              <a:t>- Data Visualization &amp; Project Management.</a:t>
            </a:r>
          </a:p>
          <a:p>
            <a:r>
              <a:rPr b="1" dirty="0"/>
              <a:t>Scholarships awarded? </a:t>
            </a:r>
            <a:r>
              <a:rPr dirty="0"/>
              <a:t>- Various opportunities supported with financial aid.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Interaction &amp;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Interactive filters for country, opportunity category, and demographics.</a:t>
            </a:r>
          </a:p>
          <a:p>
            <a:r>
              <a:rPr dirty="0"/>
              <a:t>Clear visual hierarchy to guide users through insights.</a:t>
            </a:r>
          </a:p>
          <a:p>
            <a:r>
              <a:rPr dirty="0"/>
              <a:t>Tooltips and descriptions added for better data understanding.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Screenshots of key visualizations </a:t>
            </a:r>
            <a:r>
              <a:rPr lang="en-US" dirty="0"/>
              <a:t>of below are followed in next slides.</a:t>
            </a:r>
            <a:endParaRPr dirty="0"/>
          </a:p>
          <a:p>
            <a:r>
              <a:rPr dirty="0"/>
              <a:t>Breakdown of user engagement trends over time.</a:t>
            </a:r>
          </a:p>
          <a:p>
            <a:r>
              <a:rPr dirty="0"/>
              <a:t>Top opportunities and scholarship impact analysis.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431895-FDC5-8BCF-C7E9-6632206AC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CE93E53-F196-80C9-9DE0-423613855A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713" y="509587"/>
            <a:ext cx="8958573" cy="4543425"/>
          </a:xfrm>
        </p:spPr>
      </p:pic>
    </p:spTree>
    <p:extLst>
      <p:ext uri="{BB962C8B-B14F-4D97-AF65-F5344CB8AC3E}">
        <p14:creationId xmlns:p14="http://schemas.microsoft.com/office/powerpoint/2010/main" val="30479819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1555B-0B18-8775-2316-D1AB44F2DE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72DBB2-1D6D-E9AC-739B-FA58801014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013" y="500064"/>
            <a:ext cx="8829675" cy="4194498"/>
          </a:xfrm>
        </p:spPr>
      </p:pic>
    </p:spTree>
    <p:extLst>
      <p:ext uri="{BB962C8B-B14F-4D97-AF65-F5344CB8AC3E}">
        <p14:creationId xmlns:p14="http://schemas.microsoft.com/office/powerpoint/2010/main" val="20195861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88482-FE5E-02A0-2A4C-902750BEA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63E350-ADCF-0A4D-667A-8874A93DFC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732" y="423864"/>
            <a:ext cx="8872536" cy="5206020"/>
          </a:xfrm>
        </p:spPr>
      </p:pic>
    </p:spTree>
    <p:extLst>
      <p:ext uri="{BB962C8B-B14F-4D97-AF65-F5344CB8AC3E}">
        <p14:creationId xmlns:p14="http://schemas.microsoft.com/office/powerpoint/2010/main" val="14792270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on Decision-Making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Helps Excelerate refine their opportunity offerings.</a:t>
            </a:r>
          </a:p>
          <a:p>
            <a:r>
              <a:rPr dirty="0"/>
              <a:t>Data-driven approach to allocating scholarships.</a:t>
            </a:r>
          </a:p>
          <a:p>
            <a:r>
              <a:rPr dirty="0"/>
              <a:t>Provides insights for user engagement and growth strategies.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Dashboard enables Excelerate to make informed decisions.</a:t>
            </a:r>
          </a:p>
          <a:p>
            <a:r>
              <a:rPr dirty="0"/>
              <a:t>Key insights help in enhancing user engagement and optimizing offerings.</a:t>
            </a:r>
          </a:p>
          <a:p>
            <a:r>
              <a:rPr dirty="0"/>
              <a:t>Future scope: Expanding dataset and refining user experience.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Red Orange">
      <a:dk1>
        <a:sysClr val="windowText" lastClr="000000"/>
      </a:dk1>
      <a:lt1>
        <a:sysClr val="window" lastClr="FFFFFF"/>
      </a:lt1>
      <a:dk2>
        <a:srgbClr val="505046"/>
      </a:dk2>
      <a:lt2>
        <a:srgbClr val="EEECE1"/>
      </a:lt2>
      <a:accent1>
        <a:srgbClr val="E84C22"/>
      </a:accent1>
      <a:accent2>
        <a:srgbClr val="FFBD47"/>
      </a:accent2>
      <a:accent3>
        <a:srgbClr val="B64926"/>
      </a:accent3>
      <a:accent4>
        <a:srgbClr val="FF8427"/>
      </a:accent4>
      <a:accent5>
        <a:srgbClr val="CC9900"/>
      </a:accent5>
      <a:accent6>
        <a:srgbClr val="B22600"/>
      </a:accent6>
      <a:hlink>
        <a:srgbClr val="CC9900"/>
      </a:hlink>
      <a:folHlink>
        <a:srgbClr val="666699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23659B44-6E34-4CE8-8F0D-387DA799682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</TotalTime>
  <Words>428</Words>
  <Application>Microsoft Office PowerPoint</Application>
  <PresentationFormat>On-screen Show (4:3)</PresentationFormat>
  <Paragraphs>49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Trebuchet MS</vt:lpstr>
      <vt:lpstr>Wingdings 3</vt:lpstr>
      <vt:lpstr>Facet</vt:lpstr>
      <vt:lpstr>Excelerate Dashboard Presentation</vt:lpstr>
      <vt:lpstr>Introduction</vt:lpstr>
      <vt:lpstr>Dashboard Overview</vt:lpstr>
      <vt:lpstr>Key Decisions and Design Choices</vt:lpstr>
      <vt:lpstr>Challenges Faced</vt:lpstr>
      <vt:lpstr>Solutions Implemented</vt:lpstr>
      <vt:lpstr>Key Insights Derived</vt:lpstr>
      <vt:lpstr>Addressing Key Questions</vt:lpstr>
      <vt:lpstr>User Interaction &amp; Guidance</vt:lpstr>
      <vt:lpstr>Visual Highlights</vt:lpstr>
      <vt:lpstr>PowerPoint Presentation</vt:lpstr>
      <vt:lpstr>PowerPoint Presentation</vt:lpstr>
      <vt:lpstr>PowerPoint Presentation</vt:lpstr>
      <vt:lpstr>Impact on Decision-Making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Karunakar Nuvvula</cp:lastModifiedBy>
  <cp:revision>6</cp:revision>
  <dcterms:created xsi:type="dcterms:W3CDTF">2013-01-27T09:14:16Z</dcterms:created>
  <dcterms:modified xsi:type="dcterms:W3CDTF">2025-03-04T00:42:00Z</dcterms:modified>
  <cp:category/>
</cp:coreProperties>
</file>